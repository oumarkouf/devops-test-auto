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313" r:id="rId3"/>
    <p:sldId id="416" r:id="rId4"/>
    <p:sldId id="433" r:id="rId5"/>
    <p:sldId id="436" r:id="rId6"/>
    <p:sldId id="434" r:id="rId7"/>
    <p:sldId id="435" r:id="rId8"/>
    <p:sldId id="437" r:id="rId9"/>
    <p:sldId id="431" r:id="rId10"/>
    <p:sldId id="432" r:id="rId11"/>
    <p:sldId id="430" r:id="rId12"/>
    <p:sldId id="418" r:id="rId13"/>
    <p:sldId id="420" r:id="rId14"/>
  </p:sldIdLst>
  <p:sldSz cx="9144000" cy="6858000" type="screen4x3"/>
  <p:notesSz cx="6858000" cy="9926638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orgetaRadu" initials="G" lastIdx="2" clrIdx="0"/>
  <p:cmAuthor id="2" name="Oumar KOUFERIDJI" initials="OK" lastIdx="1" clrIdx="1">
    <p:extLst>
      <p:ext uri="{19B8F6BF-5375-455C-9EA6-DF929625EA0E}">
        <p15:presenceInfo xmlns:p15="http://schemas.microsoft.com/office/powerpoint/2012/main" userId="Oumar KOUFERIDJ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66F6"/>
    <a:srgbClr val="28A5C3"/>
    <a:srgbClr val="09BFFF"/>
    <a:srgbClr val="503AF4"/>
    <a:srgbClr val="EC891C"/>
    <a:srgbClr val="FFCD2D"/>
    <a:srgbClr val="F13345"/>
    <a:srgbClr val="D60093"/>
    <a:srgbClr val="FFD13F"/>
    <a:srgbClr val="C94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90" autoAdjust="0"/>
    <p:restoredTop sz="91095" autoAdjust="0"/>
  </p:normalViewPr>
  <p:slideViewPr>
    <p:cSldViewPr>
      <p:cViewPr varScale="1">
        <p:scale>
          <a:sx n="57" d="100"/>
          <a:sy n="57" d="100"/>
        </p:scale>
        <p:origin x="172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5300"/>
          </a:xfrm>
          <a:prstGeom prst="rect">
            <a:avLst/>
          </a:prstGeom>
        </p:spPr>
        <p:txBody>
          <a:bodyPr vert="horz" wrap="square" lIns="88541" tIns="44271" rIns="88541" bIns="4427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5300"/>
          </a:xfrm>
          <a:prstGeom prst="rect">
            <a:avLst/>
          </a:prstGeom>
        </p:spPr>
        <p:txBody>
          <a:bodyPr vert="horz" wrap="square" lIns="88541" tIns="44271" rIns="88541" bIns="4427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6E834C55-B22D-4DC8-910D-775BCF6F7C51}" type="datetimeFigureOut">
              <a:rPr lang="fr-FR" altLang="fr-FR"/>
              <a:pPr>
                <a:defRPr/>
              </a:pPr>
              <a:t>08/03/2021</a:t>
            </a:fld>
            <a:endParaRPr lang="fr-FR" alt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71800" cy="495300"/>
          </a:xfrm>
          <a:prstGeom prst="rect">
            <a:avLst/>
          </a:prstGeom>
        </p:spPr>
        <p:txBody>
          <a:bodyPr vert="horz" wrap="square" lIns="88541" tIns="44271" rIns="88541" bIns="4427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9429750"/>
            <a:ext cx="2971800" cy="495300"/>
          </a:xfrm>
          <a:prstGeom prst="rect">
            <a:avLst/>
          </a:prstGeom>
        </p:spPr>
        <p:txBody>
          <a:bodyPr vert="horz" wrap="square" lIns="88541" tIns="44271" rIns="88541" bIns="4427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16CE2A6A-CFBB-42B8-ABD5-8EE22B3B742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35232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5300"/>
          </a:xfrm>
          <a:prstGeom prst="rect">
            <a:avLst/>
          </a:prstGeom>
        </p:spPr>
        <p:txBody>
          <a:bodyPr vert="horz" wrap="square" lIns="95908" tIns="47954" rIns="95908" bIns="47954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5300"/>
          </a:xfrm>
          <a:prstGeom prst="rect">
            <a:avLst/>
          </a:prstGeom>
        </p:spPr>
        <p:txBody>
          <a:bodyPr vert="horz" wrap="square" lIns="95908" tIns="47954" rIns="95908" bIns="4795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8DEE9710-2F29-4BF7-ADE7-EFFA365AAFCD}" type="datetimeFigureOut">
              <a:rPr lang="fr-FR" altLang="fr-FR"/>
              <a:pPr>
                <a:defRPr/>
              </a:pPr>
              <a:t>08/03/2021</a:t>
            </a:fld>
            <a:endParaRPr lang="fr-FR" alt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908" tIns="47954" rIns="95908" bIns="47954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714875"/>
            <a:ext cx="5486400" cy="4467225"/>
          </a:xfrm>
          <a:prstGeom prst="rect">
            <a:avLst/>
          </a:prstGeom>
        </p:spPr>
        <p:txBody>
          <a:bodyPr vert="horz" lIns="95908" tIns="47954" rIns="95908" bIns="47954" rtlCol="0"/>
          <a:lstStyle/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71800" cy="495300"/>
          </a:xfrm>
          <a:prstGeom prst="rect">
            <a:avLst/>
          </a:prstGeom>
        </p:spPr>
        <p:txBody>
          <a:bodyPr vert="horz" wrap="square" lIns="95908" tIns="47954" rIns="95908" bIns="47954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9429750"/>
            <a:ext cx="2971800" cy="495300"/>
          </a:xfrm>
          <a:prstGeom prst="rect">
            <a:avLst/>
          </a:prstGeom>
        </p:spPr>
        <p:txBody>
          <a:bodyPr vert="horz" wrap="square" lIns="95908" tIns="47954" rIns="95908" bIns="4795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4D0F2BD1-ED03-4294-8304-88FF241D0FC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946611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0F2BD1-ED03-4294-8304-88FF241D0FCB}" type="slidenum">
              <a:rPr lang="fr-FR" altLang="fr-FR" smtClean="0"/>
              <a:pPr>
                <a:defRPr/>
              </a:pPr>
              <a:t>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98026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0F2BD1-ED03-4294-8304-88FF241D0FCB}" type="slidenum">
              <a:rPr lang="fr-FR" altLang="fr-FR" smtClean="0"/>
              <a:pPr>
                <a:defRPr/>
              </a:pPr>
              <a:t>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147424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0F2BD1-ED03-4294-8304-88FF241D0FCB}" type="slidenum">
              <a:rPr lang="fr-FR" altLang="fr-FR" smtClean="0"/>
              <a:pPr>
                <a:defRPr/>
              </a:pPr>
              <a:t>13</a:t>
            </a:fld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461204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3175"/>
            <a:ext cx="9140825" cy="599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250825" y="260350"/>
            <a:ext cx="5761038" cy="1655763"/>
          </a:xfrm>
          <a:prstGeom prst="rect">
            <a:avLst/>
          </a:prstGeom>
          <a:solidFill>
            <a:schemeClr val="accent6">
              <a:alpha val="77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endParaRPr lang="fr-FR" altLang="fr-FR" sz="1400"/>
          </a:p>
        </p:txBody>
      </p:sp>
      <p:sp>
        <p:nvSpPr>
          <p:cNvPr id="8" name="Rectangle 7"/>
          <p:cNvSpPr/>
          <p:nvPr userDrawn="1"/>
        </p:nvSpPr>
        <p:spPr>
          <a:xfrm>
            <a:off x="0" y="5311775"/>
            <a:ext cx="9140825" cy="1533525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endParaRPr lang="fr-FR" altLang="fr-FR" sz="1400"/>
          </a:p>
        </p:txBody>
      </p:sp>
      <p:sp>
        <p:nvSpPr>
          <p:cNvPr id="9" name="Rectangle 8"/>
          <p:cNvSpPr/>
          <p:nvPr userDrawn="1"/>
        </p:nvSpPr>
        <p:spPr>
          <a:xfrm>
            <a:off x="1071563" y="5022850"/>
            <a:ext cx="3492500" cy="603250"/>
          </a:xfrm>
          <a:prstGeom prst="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endParaRPr lang="fr-FR" altLang="fr-FR" sz="1000">
              <a:solidFill>
                <a:srgbClr val="A0C873"/>
              </a:solidFill>
            </a:endParaRPr>
          </a:p>
        </p:txBody>
      </p:sp>
      <p:pic>
        <p:nvPicPr>
          <p:cNvPr id="10" name="Image 15" descr="BNPPF_BL_FR_Cred_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5661025"/>
            <a:ext cx="3536950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34"/>
          <p:cNvSpPr>
            <a:spLocks noChangeArrowheads="1"/>
          </p:cNvSpPr>
          <p:nvPr userDrawn="1"/>
        </p:nvSpPr>
        <p:spPr bwMode="auto">
          <a:xfrm>
            <a:off x="971550" y="6667500"/>
            <a:ext cx="817245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fr-FR" sz="800">
                <a:solidFill>
                  <a:srgbClr val="58585A"/>
                </a:solidFill>
                <a:latin typeface="Arial Narrow" pitchFamily="34" charset="0"/>
                <a:ea typeface="ＭＳ Ｐゴシック" pitchFamily="34" charset="-128"/>
                <a:cs typeface="Arial Narrow" pitchFamily="34" charset="0"/>
              </a:rPr>
              <a:t>Is it absolutely necessary to print this document? If this is the case, please make sure to print several slides per sheet, double sided and in black &amp; white preferably.</a:t>
            </a:r>
            <a:endParaRPr lang="fr-FR" altLang="fr-FR" sz="800">
              <a:solidFill>
                <a:srgbClr val="58585A"/>
              </a:solidFill>
              <a:latin typeface="Arial Narrow" pitchFamily="34" charset="0"/>
              <a:ea typeface="ＭＳ Ｐゴシック" pitchFamily="34" charset="-128"/>
              <a:cs typeface="Arial Narrow" pitchFamily="34" charset="0"/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2950" y="95250"/>
            <a:ext cx="649288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90202" y="255589"/>
            <a:ext cx="5765974" cy="864000"/>
          </a:xfrm>
        </p:spPr>
        <p:txBody>
          <a:bodyPr anchor="t">
            <a:noAutofit/>
          </a:bodyPr>
          <a:lstStyle>
            <a:lvl1pPr algn="l">
              <a:lnSpc>
                <a:spcPct val="85000"/>
              </a:lnSpc>
              <a:defRPr sz="3600" b="1" cap="all" baseline="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0203" y="1294863"/>
            <a:ext cx="5328000" cy="432000"/>
          </a:xfrm>
        </p:spPr>
        <p:txBody>
          <a:bodyPr anchor="ctr">
            <a:normAutofit/>
          </a:bodyPr>
          <a:lstStyle>
            <a:lvl1pPr marL="0" indent="0" algn="l">
              <a:buNone/>
              <a:defRPr sz="2500" cap="all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11" name="Espace réservé du texte 2"/>
          <p:cNvSpPr>
            <a:spLocks noGrp="1"/>
          </p:cNvSpPr>
          <p:nvPr>
            <p:ph type="body" idx="13"/>
          </p:nvPr>
        </p:nvSpPr>
        <p:spPr>
          <a:xfrm>
            <a:off x="1231057" y="5112168"/>
            <a:ext cx="3168000" cy="216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12" name="Espace réservé du texte 2"/>
          <p:cNvSpPr>
            <a:spLocks noGrp="1"/>
          </p:cNvSpPr>
          <p:nvPr>
            <p:ph type="body" idx="14"/>
          </p:nvPr>
        </p:nvSpPr>
        <p:spPr>
          <a:xfrm>
            <a:off x="1231057" y="5335688"/>
            <a:ext cx="3168000" cy="216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026582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/>
          <p:cNvCxnSpPr/>
          <p:nvPr userDrawn="1"/>
        </p:nvCxnSpPr>
        <p:spPr>
          <a:xfrm>
            <a:off x="342900" y="879475"/>
            <a:ext cx="845978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contenu 2"/>
          <p:cNvSpPr>
            <a:spLocks noGrp="1"/>
          </p:cNvSpPr>
          <p:nvPr>
            <p:ph idx="1"/>
          </p:nvPr>
        </p:nvSpPr>
        <p:spPr>
          <a:xfrm>
            <a:off x="342578" y="1137312"/>
            <a:ext cx="8460000" cy="4785129"/>
          </a:xfrm>
        </p:spPr>
        <p:txBody>
          <a:bodyPr/>
          <a:lstStyle>
            <a:lvl2pPr marL="358775" indent="-179388">
              <a:defRPr/>
            </a:lvl2pPr>
            <a:lvl3pPr marL="538163" indent="-182563">
              <a:defRPr/>
            </a:lvl3pPr>
            <a:lvl4pPr marL="719138" indent="-173038">
              <a:defRPr/>
            </a:lvl4pPr>
            <a:lvl5pPr marL="3175" indent="4763">
              <a:defRPr/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numéro de diapositiv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800" b="1">
                <a:solidFill>
                  <a:schemeClr val="bg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B449D29-FB61-4EC6-AA7C-646069F3C0D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91509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342900" y="115888"/>
            <a:ext cx="8459788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339725" y="1652588"/>
            <a:ext cx="8462963" cy="422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Modifiez les styles du texte du masque</a:t>
            </a:r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cxnSp>
        <p:nvCxnSpPr>
          <p:cNvPr id="11" name="Connecteur droit 10"/>
          <p:cNvCxnSpPr/>
          <p:nvPr/>
        </p:nvCxnSpPr>
        <p:spPr>
          <a:xfrm>
            <a:off x="342900" y="6102350"/>
            <a:ext cx="845978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Image 10" descr="BNPPF_BL_FR_Cred_P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6165850"/>
            <a:ext cx="228123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Espace réservé du numéro de diapositiv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69300" y="6453188"/>
            <a:ext cx="180975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800" b="1">
                <a:solidFill>
                  <a:schemeClr val="bg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6B1C135-E1CD-4404-A051-6B1F730464F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pic>
        <p:nvPicPr>
          <p:cNvPr id="7" name="Picture 5" descr="green-tri-color-logo">
            <a:extLst>
              <a:ext uri="{FF2B5EF4-FFF2-40B4-BE49-F238E27FC236}">
                <a16:creationId xmlns:a16="http://schemas.microsoft.com/office/drawing/2014/main" id="{94F4F903-168C-44FC-AF59-6B329236CA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6876256" y="6258245"/>
            <a:ext cx="1008112" cy="408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MSIPCMContentMarking" descr="{&quot;HashCode&quot;:1859994762,&quot;Placement&quot;:&quot;Footer&quot;,&quot;Top&quot;:519.343,&quot;Left&quot;:604.5204,&quot;SlideWidth&quot;:720,&quot;SlideHeight&quot;:540}"/>
          <p:cNvSpPr txBox="1"/>
          <p:nvPr userDrawn="1"/>
        </p:nvSpPr>
        <p:spPr>
          <a:xfrm>
            <a:off x="7677409" y="6595656"/>
            <a:ext cx="1466591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fr-FR" sz="1000">
                <a:solidFill>
                  <a:srgbClr val="0000FF"/>
                </a:solidFill>
                <a:latin typeface="Calibri" panose="020F0502020204030204" pitchFamily="34" charset="0"/>
              </a:rPr>
              <a:t>Classification : Internal</a:t>
            </a:r>
            <a:endParaRPr lang="fr-FR" sz="1000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595" r:id="rId1"/>
    <p:sldLayoutId id="2147484596" r:id="rId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accent1"/>
          </a:solidFill>
          <a:latin typeface="Arial Narrow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accent1"/>
          </a:solidFill>
          <a:latin typeface="Arial Narrow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accent1"/>
          </a:solidFill>
          <a:latin typeface="Arial Narrow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accent1"/>
          </a:solidFill>
          <a:latin typeface="Arial Narrow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rtl="0" eaLnBrk="0" fontAlgn="base" hangingPunct="0">
        <a:spcBef>
          <a:spcPts val="200"/>
        </a:spcBef>
        <a:spcAft>
          <a:spcPct val="0"/>
        </a:spcAft>
        <a:buClr>
          <a:srgbClr val="D2DCAA"/>
        </a:buClr>
        <a:buSzPct val="100000"/>
        <a:defRPr kern="1200">
          <a:solidFill>
            <a:schemeClr val="bg1"/>
          </a:solidFill>
          <a:latin typeface="+mn-lt"/>
          <a:ea typeface="+mn-ea"/>
          <a:cs typeface="+mn-cs"/>
        </a:defRPr>
      </a:lvl1pPr>
      <a:lvl2pPr marL="446088" indent="-179388" algn="l" rtl="0" eaLnBrk="0" fontAlgn="base" hangingPunct="0">
        <a:spcBef>
          <a:spcPts val="200"/>
        </a:spcBef>
        <a:spcAft>
          <a:spcPct val="0"/>
        </a:spcAft>
        <a:buClr>
          <a:schemeClr val="accent1"/>
        </a:buClr>
        <a:buSzPct val="9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804863" indent="-176213" algn="l" rtl="0" eaLnBrk="0" fontAlgn="base" hangingPunct="0">
        <a:spcBef>
          <a:spcPts val="200"/>
        </a:spcBef>
        <a:spcAft>
          <a:spcPct val="0"/>
        </a:spcAft>
        <a:buFont typeface="Wingdings" pitchFamily="2" charset="2"/>
        <a:buChar char="§"/>
        <a:defRPr sz="1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58875" indent="-168275" algn="l" rtl="0" eaLnBrk="0" fontAlgn="base" hangingPunct="0">
        <a:spcBef>
          <a:spcPts val="200"/>
        </a:spcBef>
        <a:spcAft>
          <a:spcPct val="0"/>
        </a:spcAft>
        <a:buFont typeface="Wingdings" pitchFamily="2" charset="2"/>
        <a:buChar char="§"/>
        <a:defRPr sz="1200" kern="1200">
          <a:solidFill>
            <a:schemeClr val="bg2"/>
          </a:solidFill>
          <a:latin typeface="+mn-lt"/>
          <a:ea typeface="+mn-ea"/>
          <a:cs typeface="+mn-cs"/>
        </a:defRPr>
      </a:lvl4pPr>
      <a:lvl5pPr algn="l" rtl="0" eaLnBrk="0" fontAlgn="base" hangingPunct="0">
        <a:spcBef>
          <a:spcPts val="200"/>
        </a:spcBef>
        <a:spcAft>
          <a:spcPct val="0"/>
        </a:spcAft>
        <a:defRPr sz="10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pfc.rb.echonet/Services-Metiers/ap10834-loancalculation/-/tree/sprint0/loancalculation-migration-tests/src/main/script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enkins.pico-pfc.dev.echonet/job/SME_AP10834-loancalculation-migration-tests-formatQr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jenkins.pico-pfc.dev.echonet/job/SME_AP10834-loancalculation-migration-tests/job/sprint0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jenkins.pico-pfc.dev.echonet/job/SME_AP10834-loancalculation-migration-tests-formatQr/job/sprint0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7384"/>
            <a:ext cx="9144000" cy="548122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2701" y="5481228"/>
            <a:ext cx="5400600" cy="180020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6146" name="Titre 5"/>
          <p:cNvSpPr>
            <a:spLocks noGrp="1"/>
          </p:cNvSpPr>
          <p:nvPr>
            <p:ph type="ctrTitle"/>
          </p:nvPr>
        </p:nvSpPr>
        <p:spPr>
          <a:xfrm>
            <a:off x="2699792" y="1943547"/>
            <a:ext cx="6263754" cy="863600"/>
          </a:xfrm>
        </p:spPr>
        <p:txBody>
          <a:bodyPr anchor="ctr"/>
          <a:lstStyle/>
          <a:p>
            <a:pPr algn="r" eaLnBrk="1" hangingPunct="1">
              <a:defRPr/>
            </a:pPr>
            <a:r>
              <a:rPr lang="en-GB" altLang="fr-FR" b="0" cap="none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br>
              <a:rPr lang="en-GB" altLang="fr-FR" b="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fr-FR" b="0" cap="none" dirty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fr-FR" altLang="fr-FR" b="0" cap="none" dirty="0">
                <a:latin typeface="Calibri" panose="020F0502020204030204" pitchFamily="34" charset="0"/>
                <a:cs typeface="Calibri" panose="020F0502020204030204" pitchFamily="34" charset="0"/>
              </a:rPr>
              <a:t>Démo Batch Tests de Migration	</a:t>
            </a:r>
          </a:p>
        </p:txBody>
      </p:sp>
      <p:sp>
        <p:nvSpPr>
          <p:cNvPr id="6148" name="DATE"/>
          <p:cNvSpPr>
            <a:spLocks noGrp="1"/>
          </p:cNvSpPr>
          <p:nvPr>
            <p:ph type="body" idx="13"/>
          </p:nvPr>
        </p:nvSpPr>
        <p:spPr>
          <a:xfrm>
            <a:off x="6217000" y="3023171"/>
            <a:ext cx="2762579" cy="477837"/>
          </a:xfrm>
        </p:spPr>
        <p:txBody>
          <a:bodyPr>
            <a:normAutofit/>
          </a:bodyPr>
          <a:lstStyle/>
          <a:p>
            <a:pPr algn="r" eaLnBrk="1" hangingPunct="1"/>
            <a:r>
              <a:rPr lang="fr-FR" altLang="fr-FR" sz="2000" b="1" cap="none" dirty="0">
                <a:latin typeface="Calibri" panose="020F0502020204030204" pitchFamily="34" charset="0"/>
                <a:cs typeface="Calibri" panose="020F0502020204030204" pitchFamily="34" charset="0"/>
              </a:rPr>
              <a:t>08 Mars 2021</a:t>
            </a:r>
          </a:p>
        </p:txBody>
      </p:sp>
      <p:sp>
        <p:nvSpPr>
          <p:cNvPr id="9" name="Titre 5"/>
          <p:cNvSpPr txBox="1">
            <a:spLocks/>
          </p:cNvSpPr>
          <p:nvPr/>
        </p:nvSpPr>
        <p:spPr bwMode="auto">
          <a:xfrm>
            <a:off x="1763688" y="1124744"/>
            <a:ext cx="7199858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accent1"/>
                </a:solidFill>
                <a:latin typeface="Arial Narrow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accent1"/>
                </a:solidFill>
                <a:latin typeface="Arial Narrow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accent1"/>
                </a:solidFill>
                <a:latin typeface="Arial Narrow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accent1"/>
                </a:solidFill>
                <a:latin typeface="Arial Narrow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eaLnBrk="1" hangingPunct="1">
              <a:defRPr/>
            </a:pPr>
            <a:r>
              <a:rPr lang="fr-FR" altLang="fr-FR" sz="5400" cap="none" dirty="0">
                <a:solidFill>
                  <a:schemeClr val="tx1">
                    <a:lumMod val="95000"/>
                  </a:schemeClr>
                </a:solidFill>
                <a:latin typeface="BNPP Sans" pitchFamily="50" charset="0"/>
              </a:rPr>
              <a:t>Mig Doit C </a:t>
            </a:r>
            <a:r>
              <a:rPr lang="fr-FR" altLang="fr-FR" sz="5400" cap="none" dirty="0" err="1">
                <a:solidFill>
                  <a:schemeClr val="tx1">
                    <a:lumMod val="95000"/>
                  </a:schemeClr>
                </a:solidFill>
                <a:latin typeface="BNPP Sans" pitchFamily="50" charset="0"/>
              </a:rPr>
              <a:t>CalculCredit</a:t>
            </a:r>
            <a:endParaRPr lang="fr-FR" altLang="fr-FR" sz="5400" b="0" cap="none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e 4"/>
          <p:cNvGrpSpPr/>
          <p:nvPr/>
        </p:nvGrpSpPr>
        <p:grpSpPr>
          <a:xfrm>
            <a:off x="108815" y="153244"/>
            <a:ext cx="8854729" cy="395436"/>
            <a:chOff x="387666" y="3917565"/>
            <a:chExt cx="11241366" cy="504304"/>
          </a:xfrm>
          <a:solidFill>
            <a:schemeClr val="accent1">
              <a:lumMod val="75000"/>
            </a:schemeClr>
          </a:solidFill>
        </p:grpSpPr>
        <p:sp>
          <p:nvSpPr>
            <p:cNvPr id="4" name="Rectangle 3"/>
            <p:cNvSpPr/>
            <p:nvPr/>
          </p:nvSpPr>
          <p:spPr>
            <a:xfrm>
              <a:off x="387666" y="3917565"/>
              <a:ext cx="504304" cy="504304"/>
            </a:xfrm>
            <a:prstGeom prst="rect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84169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580672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77175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773678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370181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966684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563187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159690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756193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352696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949199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545702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42205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738708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335211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931714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528217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1124728" y="3917565"/>
              <a:ext cx="504304" cy="504304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325A07E7-6418-4C05-83B0-8A27040542A5}"/>
              </a:ext>
            </a:extLst>
          </p:cNvPr>
          <p:cNvSpPr/>
          <p:nvPr/>
        </p:nvSpPr>
        <p:spPr>
          <a:xfrm>
            <a:off x="575093" y="153284"/>
            <a:ext cx="397236" cy="395436"/>
          </a:xfrm>
          <a:prstGeom prst="rect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24764E-A007-417D-97BA-9B8A6F05A29D}"/>
              </a:ext>
            </a:extLst>
          </p:cNvPr>
          <p:cNvSpPr/>
          <p:nvPr/>
        </p:nvSpPr>
        <p:spPr>
          <a:xfrm>
            <a:off x="1044960" y="153244"/>
            <a:ext cx="397236" cy="395436"/>
          </a:xfrm>
          <a:prstGeom prst="rect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>
              <a:solidFill>
                <a:schemeClr val="tx1"/>
              </a:solidFill>
            </a:endParaRPr>
          </a:p>
        </p:txBody>
      </p:sp>
      <p:pic>
        <p:nvPicPr>
          <p:cNvPr id="31" name="Picture 5" descr="green-tri-color-logo">
            <a:extLst>
              <a:ext uri="{FF2B5EF4-FFF2-40B4-BE49-F238E27FC236}">
                <a16:creationId xmlns:a16="http://schemas.microsoft.com/office/drawing/2014/main" id="{8E1E04D1-8817-47DD-9A5A-0B7411D5D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6296" y="5769261"/>
            <a:ext cx="1512168" cy="612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500" dirty="0"/>
              <a:t>Agenda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449D29-FB61-4EC6-AA7C-646069F3C0D4}" type="slidenum">
              <a:rPr lang="fr-FR" altLang="fr-FR" smtClean="0"/>
              <a:pPr>
                <a:defRPr/>
              </a:pPr>
              <a:t>2</a:t>
            </a:fld>
            <a:endParaRPr lang="fr-FR" altLang="fr-FR"/>
          </a:p>
        </p:txBody>
      </p:sp>
      <p:sp>
        <p:nvSpPr>
          <p:cNvPr id="5" name="Espace réservé du contenu 1"/>
          <p:cNvSpPr txBox="1">
            <a:spLocks/>
          </p:cNvSpPr>
          <p:nvPr/>
        </p:nvSpPr>
        <p:spPr bwMode="auto">
          <a:xfrm>
            <a:off x="325116" y="1172530"/>
            <a:ext cx="8477572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 eaLnBrk="0" hangingPunct="0">
              <a:spcBef>
                <a:spcPts val="200"/>
              </a:spcBef>
              <a:buClr>
                <a:srgbClr val="D2DCAA"/>
              </a:buClr>
              <a:buSzPct val="100000"/>
              <a:defRPr>
                <a:solidFill>
                  <a:schemeClr val="bg1"/>
                </a:solidFill>
                <a:latin typeface="Arial" charset="0"/>
              </a:defRPr>
            </a:lvl1pPr>
            <a:lvl2pPr marL="644525" indent="-285750" eaLnBrk="0" hangingPunct="0">
              <a:spcBef>
                <a:spcPts val="2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600">
                <a:solidFill>
                  <a:schemeClr val="bg1"/>
                </a:solidFill>
                <a:latin typeface="Arial" charset="0"/>
              </a:defRPr>
            </a:lvl2pPr>
            <a:lvl3pPr marL="804863" indent="-176213" eaLnBrk="0" hangingPunct="0">
              <a:spcBef>
                <a:spcPts val="200"/>
              </a:spcBef>
              <a:buFont typeface="Wingdings" pitchFamily="2" charset="2"/>
              <a:buChar char="§"/>
              <a:defRPr sz="1400">
                <a:solidFill>
                  <a:schemeClr val="accent1"/>
                </a:solidFill>
                <a:latin typeface="Arial" charset="0"/>
              </a:defRPr>
            </a:lvl3pPr>
            <a:lvl4pPr marL="1158875" indent="-168275" eaLnBrk="0" hangingPunct="0">
              <a:spcBef>
                <a:spcPts val="200"/>
              </a:spcBef>
              <a:buFont typeface="Wingdings" pitchFamily="2" charset="2"/>
              <a:buChar char="§"/>
              <a:defRPr sz="1200">
                <a:solidFill>
                  <a:schemeClr val="bg2"/>
                </a:solidFill>
                <a:latin typeface="Arial" charset="0"/>
              </a:defRPr>
            </a:lvl4pPr>
            <a:lvl5pPr marL="2057400" indent="-228600" eaLnBrk="0" hangingPunct="0">
              <a:spcBef>
                <a:spcPts val="200"/>
              </a:spcBef>
              <a:defRPr sz="1000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9pPr>
          </a:lstStyle>
          <a:p>
            <a:pPr marL="358775" lvl="1" indent="0">
              <a:buNone/>
            </a:pPr>
            <a:endParaRPr lang="fr-FR" altLang="fr-FR" dirty="0"/>
          </a:p>
          <a:p>
            <a:pPr marL="358775" lvl="1" indent="0">
              <a:buNone/>
            </a:pPr>
            <a:endParaRPr lang="fr-FR" altLang="fr-FR" dirty="0"/>
          </a:p>
          <a:p>
            <a:pPr marL="358775" lvl="1" indent="0">
              <a:buNone/>
            </a:pPr>
            <a:endParaRPr lang="fr-FR" altLang="fr-FR" dirty="0"/>
          </a:p>
          <a:p>
            <a:pPr marL="358775" lvl="1" indent="0">
              <a:buNone/>
            </a:pPr>
            <a:endParaRPr lang="fr-FR" altLang="fr-FR" dirty="0"/>
          </a:p>
          <a:p>
            <a:pPr marL="358775" lvl="1" indent="0">
              <a:buNone/>
            </a:pPr>
            <a:endParaRPr lang="fr-FR" sz="1800" dirty="0"/>
          </a:p>
          <a:p>
            <a:pPr marL="358775" lvl="1" indent="0">
              <a:buNone/>
            </a:pPr>
            <a:endParaRPr lang="fr-FR" altLang="fr-FR" sz="1800" dirty="0"/>
          </a:p>
          <a:p>
            <a:pPr marL="358775" lvl="1" indent="0">
              <a:buNone/>
            </a:pPr>
            <a:endParaRPr lang="fr-FR" altLang="fr-FR" sz="1800" dirty="0"/>
          </a:p>
          <a:p>
            <a:pPr marL="358775" lvl="1" indent="0">
              <a:buNone/>
            </a:pPr>
            <a:r>
              <a:rPr lang="fr-FR" altLang="fr-FR" sz="1800" dirty="0"/>
              <a:t>    </a:t>
            </a:r>
            <a:endParaRPr lang="fr-FR" dirty="0"/>
          </a:p>
          <a:p>
            <a:endParaRPr lang="fr-FR" altLang="fr-FR" dirty="0"/>
          </a:p>
          <a:p>
            <a:r>
              <a:rPr lang="fr-FR" altLang="fr-FR" dirty="0"/>
              <a:t>           </a:t>
            </a:r>
          </a:p>
          <a:p>
            <a:endParaRPr lang="fr-FR" altLang="fr-FR" dirty="0"/>
          </a:p>
          <a:p>
            <a:pPr lvl="0"/>
            <a:endParaRPr lang="fr-FR" altLang="fr-FR" dirty="0"/>
          </a:p>
          <a:p>
            <a:pPr marL="0" indent="0"/>
            <a:endParaRPr lang="fr-FR" altLang="fr-FR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2356D-809F-428B-95AC-438FBFDC89A0}"/>
              </a:ext>
            </a:extLst>
          </p:cNvPr>
          <p:cNvSpPr/>
          <p:nvPr/>
        </p:nvSpPr>
        <p:spPr>
          <a:xfrm>
            <a:off x="638398" y="1485791"/>
            <a:ext cx="432048" cy="394925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153C10-2E6F-4E4B-9920-D803AF8EC693}"/>
              </a:ext>
            </a:extLst>
          </p:cNvPr>
          <p:cNvSpPr/>
          <p:nvPr/>
        </p:nvSpPr>
        <p:spPr>
          <a:xfrm>
            <a:off x="638398" y="4126162"/>
            <a:ext cx="432048" cy="394926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3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7D8C4-D111-4909-B360-5339EEAB5F01}"/>
              </a:ext>
            </a:extLst>
          </p:cNvPr>
          <p:cNvSpPr/>
          <p:nvPr/>
        </p:nvSpPr>
        <p:spPr>
          <a:xfrm>
            <a:off x="638398" y="2805976"/>
            <a:ext cx="432048" cy="394926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B4D3BD-8F97-4F17-9894-F49EF01F6BFF}"/>
              </a:ext>
            </a:extLst>
          </p:cNvPr>
          <p:cNvSpPr txBox="1"/>
          <p:nvPr/>
        </p:nvSpPr>
        <p:spPr>
          <a:xfrm>
            <a:off x="1383728" y="2882100"/>
            <a:ext cx="3096838" cy="3774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Résultats des Tests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8DB4D3BD-8F97-4F17-9894-F49EF01F6BFF}"/>
              </a:ext>
            </a:extLst>
          </p:cNvPr>
          <p:cNvSpPr txBox="1"/>
          <p:nvPr/>
        </p:nvSpPr>
        <p:spPr>
          <a:xfrm>
            <a:off x="1383728" y="4203105"/>
            <a:ext cx="3096838" cy="3774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Lancement en local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153C10-2E6F-4E4B-9920-D803AF8EC693}"/>
              </a:ext>
            </a:extLst>
          </p:cNvPr>
          <p:cNvSpPr/>
          <p:nvPr/>
        </p:nvSpPr>
        <p:spPr>
          <a:xfrm>
            <a:off x="638398" y="5449912"/>
            <a:ext cx="432048" cy="394926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4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8DB4D3BD-8F97-4F17-9894-F49EF01F6BFF}"/>
              </a:ext>
            </a:extLst>
          </p:cNvPr>
          <p:cNvSpPr txBox="1"/>
          <p:nvPr/>
        </p:nvSpPr>
        <p:spPr>
          <a:xfrm>
            <a:off x="1383728" y="5479925"/>
            <a:ext cx="3240360" cy="3348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Démo et Analyse des Résultats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8DB4D3BD-8F97-4F17-9894-F49EF01F6BFF}"/>
              </a:ext>
            </a:extLst>
          </p:cNvPr>
          <p:cNvSpPr txBox="1"/>
          <p:nvPr/>
        </p:nvSpPr>
        <p:spPr>
          <a:xfrm>
            <a:off x="1383728" y="1561096"/>
            <a:ext cx="3096838" cy="3774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Présentation du processus</a:t>
            </a:r>
          </a:p>
        </p:txBody>
      </p:sp>
    </p:spTree>
    <p:extLst>
      <p:ext uri="{BB962C8B-B14F-4D97-AF65-F5344CB8AC3E}">
        <p14:creationId xmlns:p14="http://schemas.microsoft.com/office/powerpoint/2010/main" val="694919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7" y="1222566"/>
            <a:ext cx="3563963" cy="7470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A926A42-FCBE-4D5C-8866-84662F55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500" dirty="0"/>
              <a:t>    Présentation du processus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91613-07AC-48D7-9BB8-199E81241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449D29-FB61-4EC6-AA7C-646069F3C0D4}" type="slidenum">
              <a:rPr lang="fr-FR" altLang="fr-FR" smtClean="0"/>
              <a:pPr>
                <a:defRPr/>
              </a:pPr>
              <a:t>3</a:t>
            </a:fld>
            <a:endParaRPr lang="fr-FR" alt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6E54A2-EB06-4231-8CA5-5DC98281550D}"/>
              </a:ext>
            </a:extLst>
          </p:cNvPr>
          <p:cNvSpPr/>
          <p:nvPr/>
        </p:nvSpPr>
        <p:spPr>
          <a:xfrm>
            <a:off x="184163" y="344140"/>
            <a:ext cx="314297" cy="288032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8F243B-F3DB-48DB-B63E-17432894BA22}"/>
              </a:ext>
            </a:extLst>
          </p:cNvPr>
          <p:cNvSpPr/>
          <p:nvPr/>
        </p:nvSpPr>
        <p:spPr>
          <a:xfrm>
            <a:off x="2456855" y="2710848"/>
            <a:ext cx="1434796" cy="1305178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5D226B-C960-4A7A-B3CC-3CF89FF41E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819" y="2841484"/>
            <a:ext cx="1027099" cy="10270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479827-0157-4A9A-867F-306FDF731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1" y="3115057"/>
            <a:ext cx="600999" cy="6009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A45AD3-5ADE-489F-84B1-98493E5BA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862" y="2960034"/>
            <a:ext cx="922067" cy="75567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5F853C-05EF-41E4-8584-54F2F7410F15}"/>
              </a:ext>
            </a:extLst>
          </p:cNvPr>
          <p:cNvCxnSpPr>
            <a:cxnSpLocks/>
          </p:cNvCxnSpPr>
          <p:nvPr/>
        </p:nvCxnSpPr>
        <p:spPr>
          <a:xfrm>
            <a:off x="641810" y="3415555"/>
            <a:ext cx="1815045" cy="1"/>
          </a:xfrm>
          <a:prstGeom prst="line">
            <a:avLst/>
          </a:prstGeom>
          <a:ln w="190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5129F8-018F-48CB-A545-50432D8A30FD}"/>
              </a:ext>
            </a:extLst>
          </p:cNvPr>
          <p:cNvCxnSpPr>
            <a:cxnSpLocks/>
            <a:stCxn id="10" idx="3"/>
            <a:endCxn id="58" idx="1"/>
          </p:cNvCxnSpPr>
          <p:nvPr/>
        </p:nvCxnSpPr>
        <p:spPr>
          <a:xfrm flipV="1">
            <a:off x="3891651" y="2172023"/>
            <a:ext cx="1303777" cy="1191414"/>
          </a:xfrm>
          <a:prstGeom prst="line">
            <a:avLst/>
          </a:prstGeom>
          <a:ln w="190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123D43-F39C-4E65-9951-E564F33CD0FF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3891651" y="3363437"/>
            <a:ext cx="1416392" cy="1231598"/>
          </a:xfrm>
          <a:prstGeom prst="line">
            <a:avLst/>
          </a:prstGeom>
          <a:ln w="190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9025F05-AE84-46B7-B4CB-5DF41F989D1A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6435166" y="3363437"/>
            <a:ext cx="1645453" cy="1231598"/>
          </a:xfrm>
          <a:prstGeom prst="line">
            <a:avLst/>
          </a:prstGeom>
          <a:ln w="190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FBCCEFD2-E893-4584-9ABB-40C52598AC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795" y="3386642"/>
            <a:ext cx="629384" cy="629384"/>
          </a:xfrm>
          <a:prstGeom prst="rect">
            <a:avLst/>
          </a:prstGeom>
        </p:spPr>
      </p:pic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9C5F8B14-4703-48E2-97AC-A637FC28770E}"/>
              </a:ext>
            </a:extLst>
          </p:cNvPr>
          <p:cNvCxnSpPr>
            <a:cxnSpLocks/>
          </p:cNvCxnSpPr>
          <p:nvPr/>
        </p:nvCxnSpPr>
        <p:spPr>
          <a:xfrm flipV="1">
            <a:off x="3174253" y="3331892"/>
            <a:ext cx="4906368" cy="2222158"/>
          </a:xfrm>
          <a:prstGeom prst="bentConnector3">
            <a:avLst>
              <a:gd name="adj1" fmla="val 117800"/>
            </a:avLst>
          </a:prstGeom>
          <a:ln w="190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80C89E9-4960-4ED2-BE25-9AB8517DB931}"/>
              </a:ext>
            </a:extLst>
          </p:cNvPr>
          <p:cNvSpPr txBox="1"/>
          <p:nvPr/>
        </p:nvSpPr>
        <p:spPr>
          <a:xfrm>
            <a:off x="5855895" y="5351566"/>
            <a:ext cx="1884457" cy="422155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noAutofit/>
          </a:bodyPr>
          <a:lstStyle/>
          <a:p>
            <a:r>
              <a:rPr lang="fr-FR" sz="1400" b="1" dirty="0" err="1">
                <a:solidFill>
                  <a:schemeClr val="bg1"/>
                </a:solidFill>
              </a:rPr>
              <a:t>Publish</a:t>
            </a:r>
            <a:r>
              <a:rPr lang="fr-FR" sz="1400" b="1" dirty="0">
                <a:solidFill>
                  <a:schemeClr val="bg1"/>
                </a:solidFill>
              </a:rPr>
              <a:t> </a:t>
            </a:r>
            <a:r>
              <a:rPr lang="fr-FR" sz="1400" b="1" dirty="0" err="1">
                <a:solidFill>
                  <a:schemeClr val="bg1"/>
                </a:solidFill>
              </a:rPr>
              <a:t>HTMLReports</a:t>
            </a:r>
            <a:endParaRPr lang="fr-FR" sz="1400" b="1" dirty="0">
              <a:solidFill>
                <a:schemeClr val="bg1"/>
              </a:solidFill>
            </a:endParaRPr>
          </a:p>
          <a:p>
            <a:r>
              <a:rPr lang="fr-FR" sz="1400" b="1" dirty="0">
                <a:solidFill>
                  <a:schemeClr val="bg1"/>
                </a:solidFill>
              </a:rPr>
              <a:t>Archive </a:t>
            </a:r>
            <a:r>
              <a:rPr lang="fr-FR" sz="1400" b="1" dirty="0" err="1">
                <a:solidFill>
                  <a:schemeClr val="bg1"/>
                </a:solidFill>
              </a:rPr>
              <a:t>Results</a:t>
            </a:r>
            <a:r>
              <a:rPr lang="fr-FR" sz="1400" b="1" dirty="0">
                <a:solidFill>
                  <a:schemeClr val="bg1"/>
                </a:solidFill>
              </a:rPr>
              <a:t> File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1648E5A-09E3-42AB-AF3E-6D4FE07736B5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3155073" y="4016026"/>
            <a:ext cx="19180" cy="1429200"/>
          </a:xfrm>
          <a:prstGeom prst="straightConnector1">
            <a:avLst/>
          </a:prstGeom>
          <a:ln w="190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043" y="4231771"/>
            <a:ext cx="1127123" cy="726528"/>
          </a:xfrm>
          <a:prstGeom prst="rect">
            <a:avLst/>
          </a:prstGeom>
        </p:spPr>
      </p:pic>
      <p:cxnSp>
        <p:nvCxnSpPr>
          <p:cNvPr id="34" name="Straight Connector 21">
            <a:extLst>
              <a:ext uri="{FF2B5EF4-FFF2-40B4-BE49-F238E27FC236}">
                <a16:creationId xmlns:a16="http://schemas.microsoft.com/office/drawing/2014/main" id="{805129F8-018F-48CB-A545-50432D8A30FD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 flipV="1">
            <a:off x="3891651" y="3337874"/>
            <a:ext cx="1503211" cy="25563"/>
          </a:xfrm>
          <a:prstGeom prst="line">
            <a:avLst/>
          </a:prstGeom>
          <a:ln w="190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31">
            <a:extLst>
              <a:ext uri="{FF2B5EF4-FFF2-40B4-BE49-F238E27FC236}">
                <a16:creationId xmlns:a16="http://schemas.microsoft.com/office/drawing/2014/main" id="{39025F05-AE84-46B7-B4CB-5DF41F989D1A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6316929" y="3323298"/>
            <a:ext cx="1737271" cy="14576"/>
          </a:xfrm>
          <a:prstGeom prst="line">
            <a:avLst/>
          </a:prstGeom>
          <a:ln w="190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Image 5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428" y="1691781"/>
            <a:ext cx="1434796" cy="960483"/>
          </a:xfrm>
          <a:prstGeom prst="rect">
            <a:avLst/>
          </a:prstGeom>
        </p:spPr>
      </p:pic>
      <p:cxnSp>
        <p:nvCxnSpPr>
          <p:cNvPr id="63" name="Straight Connector 31">
            <a:extLst>
              <a:ext uri="{FF2B5EF4-FFF2-40B4-BE49-F238E27FC236}">
                <a16:creationId xmlns:a16="http://schemas.microsoft.com/office/drawing/2014/main" id="{39025F05-AE84-46B7-B4CB-5DF41F989D1A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6630224" y="2172023"/>
            <a:ext cx="1450395" cy="1151275"/>
          </a:xfrm>
          <a:prstGeom prst="line">
            <a:avLst/>
          </a:prstGeom>
          <a:ln w="190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en angle 27"/>
          <p:cNvCxnSpPr>
            <a:endCxn id="58" idx="0"/>
          </p:cNvCxnSpPr>
          <p:nvPr/>
        </p:nvCxnSpPr>
        <p:spPr>
          <a:xfrm>
            <a:off x="3649918" y="1559086"/>
            <a:ext cx="2262908" cy="1326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4177608" y="1303689"/>
            <a:ext cx="994483" cy="25048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fr-FR" sz="14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Upload</a:t>
            </a:r>
            <a:r>
              <a:rPr lang="fr-FR" sz="1400" b="1" dirty="0">
                <a:solidFill>
                  <a:schemeClr val="bg1"/>
                </a:solidFill>
                <a:latin typeface="Arial" charset="0"/>
                <a:cs typeface="Arial" charset="0"/>
              </a:rPr>
              <a:t> file</a:t>
            </a:r>
            <a:endParaRPr lang="fr-FR" sz="1400" dirty="0">
              <a:solidFill>
                <a:schemeClr val="accent4"/>
              </a:solidFill>
            </a:endParaRPr>
          </a:p>
        </p:txBody>
      </p:sp>
      <p:sp>
        <p:nvSpPr>
          <p:cNvPr id="38" name="Flèche vers le bas 37"/>
          <p:cNvSpPr/>
          <p:nvPr/>
        </p:nvSpPr>
        <p:spPr>
          <a:xfrm>
            <a:off x="5769730" y="3849819"/>
            <a:ext cx="255711" cy="313429"/>
          </a:xfrm>
          <a:prstGeom prst="downArrow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46" name="Flèche vers le bas 45"/>
          <p:cNvSpPr/>
          <p:nvPr/>
        </p:nvSpPr>
        <p:spPr>
          <a:xfrm>
            <a:off x="5763897" y="2562466"/>
            <a:ext cx="297857" cy="329045"/>
          </a:xfrm>
          <a:prstGeom prst="downArrow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64973" y="1977477"/>
            <a:ext cx="1484359" cy="2278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hmbacksdta01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6136" y="1766310"/>
            <a:ext cx="717950" cy="717950"/>
          </a:xfrm>
          <a:prstGeom prst="rect">
            <a:avLst/>
          </a:prstGeom>
        </p:spPr>
      </p:pic>
      <p:sp>
        <p:nvSpPr>
          <p:cNvPr id="39" name="Bulle ronde 38"/>
          <p:cNvSpPr/>
          <p:nvPr/>
        </p:nvSpPr>
        <p:spPr>
          <a:xfrm>
            <a:off x="6124706" y="2640677"/>
            <a:ext cx="1292755" cy="500989"/>
          </a:xfrm>
          <a:prstGeom prst="wedgeEllipseCallou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 err="1">
                <a:solidFill>
                  <a:schemeClr val="tx1"/>
                </a:solidFill>
              </a:rPr>
              <a:t>Optional</a:t>
            </a:r>
            <a:endParaRPr lang="fr-F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373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926A42-FCBE-4D5C-8866-84662F55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500" dirty="0"/>
              <a:t>    Présentation du processus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91613-07AC-48D7-9BB8-199E81241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449D29-FB61-4EC6-AA7C-646069F3C0D4}" type="slidenum">
              <a:rPr lang="fr-FR" altLang="fr-FR" smtClean="0"/>
              <a:pPr>
                <a:defRPr/>
              </a:pPr>
              <a:t>4</a:t>
            </a:fld>
            <a:endParaRPr lang="fr-FR" alt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6E54A2-EB06-4231-8CA5-5DC98281550D}"/>
              </a:ext>
            </a:extLst>
          </p:cNvPr>
          <p:cNvSpPr/>
          <p:nvPr/>
        </p:nvSpPr>
        <p:spPr>
          <a:xfrm>
            <a:off x="184163" y="344140"/>
            <a:ext cx="314297" cy="288032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9" name="Espace réservé du contenu 1">
            <a:extLst>
              <a:ext uri="{FF2B5EF4-FFF2-40B4-BE49-F238E27FC236}">
                <a16:creationId xmlns:a16="http://schemas.microsoft.com/office/drawing/2014/main" id="{D97BD086-60D1-4E59-A9C5-BE8397A6CE8B}"/>
              </a:ext>
            </a:extLst>
          </p:cNvPr>
          <p:cNvSpPr txBox="1">
            <a:spLocks/>
          </p:cNvSpPr>
          <p:nvPr/>
        </p:nvSpPr>
        <p:spPr bwMode="auto">
          <a:xfrm>
            <a:off x="184163" y="1088677"/>
            <a:ext cx="8780325" cy="4932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 eaLnBrk="0" hangingPunct="0">
              <a:spcBef>
                <a:spcPts val="200"/>
              </a:spcBef>
              <a:buClr>
                <a:srgbClr val="D2DCAA"/>
              </a:buClr>
              <a:buSzPct val="100000"/>
              <a:defRPr>
                <a:solidFill>
                  <a:schemeClr val="bg1"/>
                </a:solidFill>
                <a:latin typeface="Arial" charset="0"/>
              </a:defRPr>
            </a:lvl1pPr>
            <a:lvl2pPr marL="644525" indent="-285750" eaLnBrk="0" hangingPunct="0">
              <a:spcBef>
                <a:spcPts val="2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600">
                <a:solidFill>
                  <a:schemeClr val="bg1"/>
                </a:solidFill>
                <a:latin typeface="Arial" charset="0"/>
              </a:defRPr>
            </a:lvl2pPr>
            <a:lvl3pPr marL="804863" indent="-176213" eaLnBrk="0" hangingPunct="0">
              <a:spcBef>
                <a:spcPts val="200"/>
              </a:spcBef>
              <a:buFont typeface="Wingdings" pitchFamily="2" charset="2"/>
              <a:buChar char="§"/>
              <a:defRPr sz="1400">
                <a:solidFill>
                  <a:schemeClr val="accent1"/>
                </a:solidFill>
                <a:latin typeface="Arial" charset="0"/>
              </a:defRPr>
            </a:lvl3pPr>
            <a:lvl4pPr marL="1158875" indent="-168275" eaLnBrk="0" hangingPunct="0">
              <a:spcBef>
                <a:spcPts val="200"/>
              </a:spcBef>
              <a:buFont typeface="Wingdings" pitchFamily="2" charset="2"/>
              <a:buChar char="§"/>
              <a:defRPr sz="1200">
                <a:solidFill>
                  <a:schemeClr val="bg2"/>
                </a:solidFill>
                <a:latin typeface="Arial" charset="0"/>
              </a:defRPr>
            </a:lvl4pPr>
            <a:lvl5pPr marL="2057400" indent="-228600" eaLnBrk="0" hangingPunct="0">
              <a:spcBef>
                <a:spcPts val="200"/>
              </a:spcBef>
              <a:defRPr sz="1000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9pPr>
          </a:lstStyle>
          <a:p>
            <a:pPr marL="0" indent="0"/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Récupération des traces QR</a:t>
            </a: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Se connecter au serveur hmbacksdta01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Copier le script </a:t>
            </a:r>
            <a:r>
              <a:rPr lang="fr-FR" b="1" dirty="0">
                <a:solidFill>
                  <a:srgbClr val="000000"/>
                </a:solidFill>
                <a:latin typeface="Arial" panose="020B0604020202020204" pitchFamily="34" charset="0"/>
              </a:rPr>
              <a:t>qr.py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sur le repo 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  <a:hlinkClick r:id="rId3"/>
              </a:rPr>
              <a:t>GIT-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  <a:hlinkClick r:id="rId3"/>
              </a:rPr>
              <a:t>loanCalculation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dans le USERDIRECTORY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Lancer :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./qr.py -f '/applis/logs/10834-ccre0-calculcredits/doit/10834_ccre0_ccre_calcul/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qr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/s00va9963023.2020122315*' -a CALCULCREDIT -c LOA &gt; extract_qr.txt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Voir le Help avec la commande : </a:t>
            </a:r>
            <a:r>
              <a:rPr lang="fr-FR" b="1" dirty="0">
                <a:solidFill>
                  <a:srgbClr val="000000"/>
                </a:solidFill>
                <a:latin typeface="Arial" panose="020B0604020202020204" pitchFamily="34" charset="0"/>
              </a:rPr>
              <a:t>./qr.py -h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Copier le fichier extract_qr.txt sur son poste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Uploader le fichier dans le job =&gt; </a:t>
            </a:r>
            <a:r>
              <a:rPr lang="fr-FR" dirty="0"/>
              <a:t> </a:t>
            </a:r>
            <a:r>
              <a:rPr lang="fr-FR" dirty="0">
                <a:hlinkClick r:id="rId4"/>
              </a:rPr>
              <a:t>SME_AP10834-loancalculation-migration-tests-formatQr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285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926A42-FCBE-4D5C-8866-84662F55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500" dirty="0"/>
              <a:t>    Présentation du processus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91613-07AC-48D7-9BB8-199E81241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449D29-FB61-4EC6-AA7C-646069F3C0D4}" type="slidenum">
              <a:rPr lang="fr-FR" altLang="fr-FR" smtClean="0"/>
              <a:pPr>
                <a:defRPr/>
              </a:pPr>
              <a:t>5</a:t>
            </a:fld>
            <a:endParaRPr lang="fr-FR" alt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6E54A2-EB06-4231-8CA5-5DC98281550D}"/>
              </a:ext>
            </a:extLst>
          </p:cNvPr>
          <p:cNvSpPr/>
          <p:nvPr/>
        </p:nvSpPr>
        <p:spPr>
          <a:xfrm>
            <a:off x="184163" y="344140"/>
            <a:ext cx="314297" cy="288032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9" name="Espace réservé du contenu 1">
            <a:extLst>
              <a:ext uri="{FF2B5EF4-FFF2-40B4-BE49-F238E27FC236}">
                <a16:creationId xmlns:a16="http://schemas.microsoft.com/office/drawing/2014/main" id="{D97BD086-60D1-4E59-A9C5-BE8397A6CE8B}"/>
              </a:ext>
            </a:extLst>
          </p:cNvPr>
          <p:cNvSpPr txBox="1">
            <a:spLocks/>
          </p:cNvSpPr>
          <p:nvPr/>
        </p:nvSpPr>
        <p:spPr bwMode="auto">
          <a:xfrm>
            <a:off x="184163" y="860424"/>
            <a:ext cx="8634720" cy="5232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 eaLnBrk="0" hangingPunct="0">
              <a:spcBef>
                <a:spcPts val="200"/>
              </a:spcBef>
              <a:buClr>
                <a:srgbClr val="D2DCAA"/>
              </a:buClr>
              <a:buSzPct val="100000"/>
              <a:defRPr>
                <a:solidFill>
                  <a:schemeClr val="bg1"/>
                </a:solidFill>
                <a:latin typeface="Arial" charset="0"/>
              </a:defRPr>
            </a:lvl1pPr>
            <a:lvl2pPr marL="644525" indent="-285750" eaLnBrk="0" hangingPunct="0">
              <a:spcBef>
                <a:spcPts val="2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600">
                <a:solidFill>
                  <a:schemeClr val="bg1"/>
                </a:solidFill>
                <a:latin typeface="Arial" charset="0"/>
              </a:defRPr>
            </a:lvl2pPr>
            <a:lvl3pPr marL="804863" indent="-176213" eaLnBrk="0" hangingPunct="0">
              <a:spcBef>
                <a:spcPts val="200"/>
              </a:spcBef>
              <a:buFont typeface="Wingdings" pitchFamily="2" charset="2"/>
              <a:buChar char="§"/>
              <a:defRPr sz="1400">
                <a:solidFill>
                  <a:schemeClr val="accent1"/>
                </a:solidFill>
                <a:latin typeface="Arial" charset="0"/>
              </a:defRPr>
            </a:lvl3pPr>
            <a:lvl4pPr marL="1158875" indent="-168275" eaLnBrk="0" hangingPunct="0">
              <a:spcBef>
                <a:spcPts val="200"/>
              </a:spcBef>
              <a:buFont typeface="Wingdings" pitchFamily="2" charset="2"/>
              <a:buChar char="§"/>
              <a:defRPr sz="1200">
                <a:solidFill>
                  <a:schemeClr val="bg2"/>
                </a:solidFill>
                <a:latin typeface="Arial" charset="0"/>
              </a:defRPr>
            </a:lvl4pPr>
            <a:lvl5pPr marL="2057400" indent="-228600" eaLnBrk="0" hangingPunct="0">
              <a:spcBef>
                <a:spcPts val="200"/>
              </a:spcBef>
              <a:defRPr sz="1000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9pPr>
          </a:lstStyle>
          <a:p>
            <a:pPr marL="0" indent="0"/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Paramètres des Jobs</a:t>
            </a: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Job 1 : Reformatage du fichier extract_qr.txt venant du serveur</a:t>
            </a: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700" dirty="0">
                <a:solidFill>
                  <a:srgbClr val="000000"/>
                </a:solidFill>
                <a:latin typeface="Arial" panose="020B0604020202020204" pitchFamily="34" charset="0"/>
              </a:rPr>
              <a:t>File PARAMETER ( Uploader extract_qr.txt)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700" dirty="0">
                <a:solidFill>
                  <a:srgbClr val="000000"/>
                </a:solidFill>
                <a:latin typeface="Arial" panose="020B0604020202020204" pitchFamily="34" charset="0"/>
              </a:rPr>
              <a:t>Téléchargement du fichier source-tests-cases.csv</a:t>
            </a: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Job 2 : 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Spring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Batch Migration tests (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  <a:hlinkClick r:id="rId2"/>
              </a:rPr>
              <a:t>Job Jenkins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SPRING_PROFILE 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0000"/>
                </a:solidFill>
                <a:latin typeface="Arial" panose="020B0604020202020204" pitchFamily="34" charset="0"/>
              </a:rPr>
              <a:t>DEV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TI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HM</a:t>
            </a:r>
          </a:p>
          <a:p>
            <a:pPr lvl="2">
              <a:buFont typeface="Arial" panose="020B0604020202020204" pitchFamily="34" charset="0"/>
              <a:buChar char="•"/>
            </a:pPr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File PARAMETER (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qr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) et le type de fichier (FILE_OPTION)</a:t>
            </a:r>
          </a:p>
          <a:p>
            <a:pPr marL="358775" lvl="1" indent="0">
              <a:buNone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Uploader un fichier 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qr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et choisir le paramètre FILE_OPTION correspondant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extract_qr.txt =&gt; FLAT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Source-tests-cases.csv =&gt; CSV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Migration-tests-cases.csv =&gt; MIG-T-C</a:t>
            </a: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25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926A42-FCBE-4D5C-8866-84662F55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500" dirty="0"/>
              <a:t>    Présentation du processus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91613-07AC-48D7-9BB8-199E81241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449D29-FB61-4EC6-AA7C-646069F3C0D4}" type="slidenum">
              <a:rPr lang="fr-FR" altLang="fr-FR" smtClean="0"/>
              <a:pPr>
                <a:defRPr/>
              </a:pPr>
              <a:t>6</a:t>
            </a:fld>
            <a:endParaRPr lang="fr-FR" alt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6E54A2-EB06-4231-8CA5-5DC98281550D}"/>
              </a:ext>
            </a:extLst>
          </p:cNvPr>
          <p:cNvSpPr/>
          <p:nvPr/>
        </p:nvSpPr>
        <p:spPr>
          <a:xfrm>
            <a:off x="184163" y="344140"/>
            <a:ext cx="314297" cy="288032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9" name="Espace réservé du contenu 1">
            <a:extLst>
              <a:ext uri="{FF2B5EF4-FFF2-40B4-BE49-F238E27FC236}">
                <a16:creationId xmlns:a16="http://schemas.microsoft.com/office/drawing/2014/main" id="{D97BD086-60D1-4E59-A9C5-BE8397A6CE8B}"/>
              </a:ext>
            </a:extLst>
          </p:cNvPr>
          <p:cNvSpPr txBox="1">
            <a:spLocks/>
          </p:cNvSpPr>
          <p:nvPr/>
        </p:nvSpPr>
        <p:spPr bwMode="auto">
          <a:xfrm>
            <a:off x="341311" y="1412776"/>
            <a:ext cx="8477572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 eaLnBrk="0" hangingPunct="0">
              <a:spcBef>
                <a:spcPts val="200"/>
              </a:spcBef>
              <a:buClr>
                <a:srgbClr val="D2DCAA"/>
              </a:buClr>
              <a:buSzPct val="100000"/>
              <a:defRPr>
                <a:solidFill>
                  <a:schemeClr val="bg1"/>
                </a:solidFill>
                <a:latin typeface="Arial" charset="0"/>
              </a:defRPr>
            </a:lvl1pPr>
            <a:lvl2pPr marL="644525" indent="-285750" eaLnBrk="0" hangingPunct="0">
              <a:spcBef>
                <a:spcPts val="2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600">
                <a:solidFill>
                  <a:schemeClr val="bg1"/>
                </a:solidFill>
                <a:latin typeface="Arial" charset="0"/>
              </a:defRPr>
            </a:lvl2pPr>
            <a:lvl3pPr marL="804863" indent="-176213" eaLnBrk="0" hangingPunct="0">
              <a:spcBef>
                <a:spcPts val="200"/>
              </a:spcBef>
              <a:buFont typeface="Wingdings" pitchFamily="2" charset="2"/>
              <a:buChar char="§"/>
              <a:defRPr sz="1400">
                <a:solidFill>
                  <a:schemeClr val="accent1"/>
                </a:solidFill>
                <a:latin typeface="Arial" charset="0"/>
              </a:defRPr>
            </a:lvl3pPr>
            <a:lvl4pPr marL="1158875" indent="-168275" eaLnBrk="0" hangingPunct="0">
              <a:spcBef>
                <a:spcPts val="200"/>
              </a:spcBef>
              <a:buFont typeface="Wingdings" pitchFamily="2" charset="2"/>
              <a:buChar char="§"/>
              <a:defRPr sz="1200">
                <a:solidFill>
                  <a:schemeClr val="bg2"/>
                </a:solidFill>
                <a:latin typeface="Arial" charset="0"/>
              </a:defRPr>
            </a:lvl4pPr>
            <a:lvl5pPr marL="2057400" indent="-228600" eaLnBrk="0" hangingPunct="0">
              <a:spcBef>
                <a:spcPts val="200"/>
              </a:spcBef>
              <a:defRPr sz="1000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9pPr>
          </a:lstStyle>
          <a:p>
            <a:pPr marL="0" indent="0"/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Reformatage du fichier 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extract_qr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(Python)</a:t>
            </a: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77" y="2397883"/>
            <a:ext cx="7870840" cy="249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73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926A42-FCBE-4D5C-8866-84662F55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08" y="115888"/>
            <a:ext cx="8147080" cy="744537"/>
          </a:xfrm>
        </p:spPr>
        <p:txBody>
          <a:bodyPr/>
          <a:lstStyle/>
          <a:p>
            <a:r>
              <a:rPr lang="fr-FR" sz="2500" dirty="0"/>
              <a:t>    Présentation du processus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91613-07AC-48D7-9BB8-199E81241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449D29-FB61-4EC6-AA7C-646069F3C0D4}" type="slidenum">
              <a:rPr lang="fr-FR" altLang="fr-FR" smtClean="0"/>
              <a:pPr>
                <a:defRPr/>
              </a:pPr>
              <a:t>7</a:t>
            </a:fld>
            <a:endParaRPr lang="fr-FR" alt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6E54A2-EB06-4231-8CA5-5DC98281550D}"/>
              </a:ext>
            </a:extLst>
          </p:cNvPr>
          <p:cNvSpPr/>
          <p:nvPr/>
        </p:nvSpPr>
        <p:spPr>
          <a:xfrm>
            <a:off x="341311" y="344140"/>
            <a:ext cx="314297" cy="288032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9" name="Espace réservé du contenu 1">
            <a:extLst>
              <a:ext uri="{FF2B5EF4-FFF2-40B4-BE49-F238E27FC236}">
                <a16:creationId xmlns:a16="http://schemas.microsoft.com/office/drawing/2014/main" id="{D97BD086-60D1-4E59-A9C5-BE8397A6CE8B}"/>
              </a:ext>
            </a:extLst>
          </p:cNvPr>
          <p:cNvSpPr txBox="1">
            <a:spLocks/>
          </p:cNvSpPr>
          <p:nvPr/>
        </p:nvSpPr>
        <p:spPr bwMode="auto">
          <a:xfrm>
            <a:off x="341311" y="1088678"/>
            <a:ext cx="8477572" cy="478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 eaLnBrk="0" hangingPunct="0">
              <a:spcBef>
                <a:spcPts val="200"/>
              </a:spcBef>
              <a:buClr>
                <a:srgbClr val="D2DCAA"/>
              </a:buClr>
              <a:buSzPct val="100000"/>
              <a:defRPr>
                <a:solidFill>
                  <a:schemeClr val="bg1"/>
                </a:solidFill>
                <a:latin typeface="Arial" charset="0"/>
              </a:defRPr>
            </a:lvl1pPr>
            <a:lvl2pPr marL="644525" indent="-285750" eaLnBrk="0" hangingPunct="0">
              <a:spcBef>
                <a:spcPts val="2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600">
                <a:solidFill>
                  <a:schemeClr val="bg1"/>
                </a:solidFill>
                <a:latin typeface="Arial" charset="0"/>
              </a:defRPr>
            </a:lvl2pPr>
            <a:lvl3pPr marL="804863" indent="-176213" eaLnBrk="0" hangingPunct="0">
              <a:spcBef>
                <a:spcPts val="200"/>
              </a:spcBef>
              <a:buFont typeface="Wingdings" pitchFamily="2" charset="2"/>
              <a:buChar char="§"/>
              <a:defRPr sz="1400">
                <a:solidFill>
                  <a:schemeClr val="accent1"/>
                </a:solidFill>
                <a:latin typeface="Arial" charset="0"/>
              </a:defRPr>
            </a:lvl3pPr>
            <a:lvl4pPr marL="1158875" indent="-168275" eaLnBrk="0" hangingPunct="0">
              <a:spcBef>
                <a:spcPts val="200"/>
              </a:spcBef>
              <a:buFont typeface="Wingdings" pitchFamily="2" charset="2"/>
              <a:buChar char="§"/>
              <a:defRPr sz="1200">
                <a:solidFill>
                  <a:schemeClr val="bg2"/>
                </a:solidFill>
                <a:latin typeface="Arial" charset="0"/>
              </a:defRPr>
            </a:lvl4pPr>
            <a:lvl5pPr marL="2057400" indent="-228600" eaLnBrk="0" hangingPunct="0">
              <a:spcBef>
                <a:spcPts val="200"/>
              </a:spcBef>
              <a:defRPr sz="1000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9pPr>
          </a:lstStyle>
          <a:p>
            <a:pPr marL="0" indent="0"/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Spring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Batch Java (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Step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1)</a:t>
            </a: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7" y="2114823"/>
            <a:ext cx="8905735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67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926A42-FCBE-4D5C-8866-84662F55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08" y="115888"/>
            <a:ext cx="8147080" cy="744537"/>
          </a:xfrm>
        </p:spPr>
        <p:txBody>
          <a:bodyPr/>
          <a:lstStyle/>
          <a:p>
            <a:r>
              <a:rPr lang="fr-FR" sz="2500" dirty="0"/>
              <a:t>    Présentation du processus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91613-07AC-48D7-9BB8-199E81241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449D29-FB61-4EC6-AA7C-646069F3C0D4}" type="slidenum">
              <a:rPr lang="fr-FR" altLang="fr-FR" smtClean="0"/>
              <a:pPr>
                <a:defRPr/>
              </a:pPr>
              <a:t>8</a:t>
            </a:fld>
            <a:endParaRPr lang="fr-FR" alt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6E54A2-EB06-4231-8CA5-5DC98281550D}"/>
              </a:ext>
            </a:extLst>
          </p:cNvPr>
          <p:cNvSpPr/>
          <p:nvPr/>
        </p:nvSpPr>
        <p:spPr>
          <a:xfrm>
            <a:off x="341311" y="344140"/>
            <a:ext cx="314297" cy="288032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9" name="Espace réservé du contenu 1">
            <a:extLst>
              <a:ext uri="{FF2B5EF4-FFF2-40B4-BE49-F238E27FC236}">
                <a16:creationId xmlns:a16="http://schemas.microsoft.com/office/drawing/2014/main" id="{D97BD086-60D1-4E59-A9C5-BE8397A6CE8B}"/>
              </a:ext>
            </a:extLst>
          </p:cNvPr>
          <p:cNvSpPr txBox="1">
            <a:spLocks/>
          </p:cNvSpPr>
          <p:nvPr/>
        </p:nvSpPr>
        <p:spPr bwMode="auto">
          <a:xfrm>
            <a:off x="341311" y="1088678"/>
            <a:ext cx="8477572" cy="478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 eaLnBrk="0" hangingPunct="0">
              <a:spcBef>
                <a:spcPts val="200"/>
              </a:spcBef>
              <a:buClr>
                <a:srgbClr val="D2DCAA"/>
              </a:buClr>
              <a:buSzPct val="100000"/>
              <a:defRPr>
                <a:solidFill>
                  <a:schemeClr val="bg1"/>
                </a:solidFill>
                <a:latin typeface="Arial" charset="0"/>
              </a:defRPr>
            </a:lvl1pPr>
            <a:lvl2pPr marL="644525" indent="-285750" eaLnBrk="0" hangingPunct="0">
              <a:spcBef>
                <a:spcPts val="2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600">
                <a:solidFill>
                  <a:schemeClr val="bg1"/>
                </a:solidFill>
                <a:latin typeface="Arial" charset="0"/>
              </a:defRPr>
            </a:lvl2pPr>
            <a:lvl3pPr marL="804863" indent="-176213" eaLnBrk="0" hangingPunct="0">
              <a:spcBef>
                <a:spcPts val="200"/>
              </a:spcBef>
              <a:buFont typeface="Wingdings" pitchFamily="2" charset="2"/>
              <a:buChar char="§"/>
              <a:defRPr sz="1400">
                <a:solidFill>
                  <a:schemeClr val="accent1"/>
                </a:solidFill>
                <a:latin typeface="Arial" charset="0"/>
              </a:defRPr>
            </a:lvl3pPr>
            <a:lvl4pPr marL="1158875" indent="-168275" eaLnBrk="0" hangingPunct="0">
              <a:spcBef>
                <a:spcPts val="200"/>
              </a:spcBef>
              <a:buFont typeface="Wingdings" pitchFamily="2" charset="2"/>
              <a:buChar char="§"/>
              <a:defRPr sz="1200">
                <a:solidFill>
                  <a:schemeClr val="bg2"/>
                </a:solidFill>
                <a:latin typeface="Arial" charset="0"/>
              </a:defRPr>
            </a:lvl4pPr>
            <a:lvl5pPr marL="2057400" indent="-228600" eaLnBrk="0" hangingPunct="0">
              <a:spcBef>
                <a:spcPts val="200"/>
              </a:spcBef>
              <a:defRPr sz="1000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9pPr>
          </a:lstStyle>
          <a:p>
            <a:pPr marL="0" indent="0"/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Spring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Batch Java (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Step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2)</a:t>
            </a: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/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50" y="1830289"/>
            <a:ext cx="8299694" cy="330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61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926A42-FCBE-4D5C-8866-84662F55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1" y="230014"/>
            <a:ext cx="8459788" cy="516284"/>
          </a:xfrm>
        </p:spPr>
        <p:txBody>
          <a:bodyPr/>
          <a:lstStyle/>
          <a:p>
            <a:r>
              <a:rPr lang="fr-FR" sz="2500" dirty="0"/>
              <a:t>    Résultats des Tests</a:t>
            </a:r>
            <a:endParaRPr lang="en-US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91613-07AC-48D7-9BB8-199E81241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449D29-FB61-4EC6-AA7C-646069F3C0D4}" type="slidenum">
              <a:rPr lang="fr-FR" altLang="fr-FR" smtClean="0"/>
              <a:pPr>
                <a:defRPr/>
              </a:pPr>
              <a:t>9</a:t>
            </a:fld>
            <a:endParaRPr lang="fr-FR" alt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6E54A2-EB06-4231-8CA5-5DC98281550D}"/>
              </a:ext>
            </a:extLst>
          </p:cNvPr>
          <p:cNvSpPr/>
          <p:nvPr/>
        </p:nvSpPr>
        <p:spPr>
          <a:xfrm>
            <a:off x="184163" y="344140"/>
            <a:ext cx="314297" cy="288032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BF86D56-0FC8-4F6D-8579-2B6D260EF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1" y="1852475"/>
            <a:ext cx="8959837" cy="315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100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926A42-FCBE-4D5C-8866-84662F55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500" dirty="0"/>
              <a:t>     Résultats des Tests</a:t>
            </a:r>
            <a:endParaRPr lang="en-US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91613-07AC-48D7-9BB8-199E81241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449D29-FB61-4EC6-AA7C-646069F3C0D4}" type="slidenum">
              <a:rPr lang="fr-FR" altLang="fr-FR" smtClean="0"/>
              <a:pPr>
                <a:defRPr/>
              </a:pPr>
              <a:t>10</a:t>
            </a:fld>
            <a:endParaRPr lang="fr-FR" alt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6E54A2-EB06-4231-8CA5-5DC98281550D}"/>
              </a:ext>
            </a:extLst>
          </p:cNvPr>
          <p:cNvSpPr/>
          <p:nvPr/>
        </p:nvSpPr>
        <p:spPr>
          <a:xfrm>
            <a:off x="184163" y="344140"/>
            <a:ext cx="314297" cy="288032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647056" y="956580"/>
            <a:ext cx="7903219" cy="3600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/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Fichier </a:t>
            </a:r>
            <a:r>
              <a:rPr lang="fr-FR" b="1" dirty="0">
                <a:solidFill>
                  <a:srgbClr val="000000"/>
                </a:solidFill>
                <a:latin typeface="Arial" panose="020B0604020202020204" pitchFamily="34" charset="0"/>
              </a:rPr>
              <a:t>Migration-tests-results.csv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AE05711-769A-433C-A9DE-5F9E073ED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68" y="1324095"/>
            <a:ext cx="5976664" cy="466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64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926A42-FCBE-4D5C-8866-84662F55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500" dirty="0"/>
              <a:t>    Lancement en local</a:t>
            </a:r>
            <a:endParaRPr lang="en-US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91613-07AC-48D7-9BB8-199E81241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449D29-FB61-4EC6-AA7C-646069F3C0D4}" type="slidenum">
              <a:rPr lang="fr-FR" altLang="fr-FR" smtClean="0"/>
              <a:pPr>
                <a:defRPr/>
              </a:pPr>
              <a:t>11</a:t>
            </a:fld>
            <a:endParaRPr lang="fr-FR" alt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6E54A2-EB06-4231-8CA5-5DC98281550D}"/>
              </a:ext>
            </a:extLst>
          </p:cNvPr>
          <p:cNvSpPr/>
          <p:nvPr/>
        </p:nvSpPr>
        <p:spPr>
          <a:xfrm>
            <a:off x="184163" y="344140"/>
            <a:ext cx="314297" cy="288032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3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F125AD-9D11-4016-A36D-877888EBFEAA}"/>
              </a:ext>
            </a:extLst>
          </p:cNvPr>
          <p:cNvSpPr txBox="1"/>
          <p:nvPr/>
        </p:nvSpPr>
        <p:spPr>
          <a:xfrm>
            <a:off x="342900" y="1196752"/>
            <a:ext cx="8459788" cy="46805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9" name="Espace réservé du contenu 1">
            <a:extLst>
              <a:ext uri="{FF2B5EF4-FFF2-40B4-BE49-F238E27FC236}">
                <a16:creationId xmlns:a16="http://schemas.microsoft.com/office/drawing/2014/main" id="{D97BD086-60D1-4E59-A9C5-BE8397A6CE8B}"/>
              </a:ext>
            </a:extLst>
          </p:cNvPr>
          <p:cNvSpPr txBox="1">
            <a:spLocks/>
          </p:cNvSpPr>
          <p:nvPr/>
        </p:nvSpPr>
        <p:spPr bwMode="auto">
          <a:xfrm>
            <a:off x="325116" y="860424"/>
            <a:ext cx="8477572" cy="5232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 eaLnBrk="0" hangingPunct="0">
              <a:spcBef>
                <a:spcPts val="200"/>
              </a:spcBef>
              <a:buClr>
                <a:srgbClr val="D2DCAA"/>
              </a:buClr>
              <a:buSzPct val="100000"/>
              <a:defRPr>
                <a:solidFill>
                  <a:schemeClr val="bg1"/>
                </a:solidFill>
                <a:latin typeface="Arial" charset="0"/>
              </a:defRPr>
            </a:lvl1pPr>
            <a:lvl2pPr marL="644525" indent="-285750" eaLnBrk="0" hangingPunct="0">
              <a:spcBef>
                <a:spcPts val="2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600">
                <a:solidFill>
                  <a:schemeClr val="bg1"/>
                </a:solidFill>
                <a:latin typeface="Arial" charset="0"/>
              </a:defRPr>
            </a:lvl2pPr>
            <a:lvl3pPr marL="804863" indent="-176213" eaLnBrk="0" hangingPunct="0">
              <a:spcBef>
                <a:spcPts val="200"/>
              </a:spcBef>
              <a:buFont typeface="Wingdings" pitchFamily="2" charset="2"/>
              <a:buChar char="§"/>
              <a:defRPr sz="1400">
                <a:solidFill>
                  <a:schemeClr val="accent1"/>
                </a:solidFill>
                <a:latin typeface="Arial" charset="0"/>
              </a:defRPr>
            </a:lvl3pPr>
            <a:lvl4pPr marL="1158875" indent="-168275" eaLnBrk="0" hangingPunct="0">
              <a:spcBef>
                <a:spcPts val="200"/>
              </a:spcBef>
              <a:buFont typeface="Wingdings" pitchFamily="2" charset="2"/>
              <a:buChar char="§"/>
              <a:defRPr sz="1200">
                <a:solidFill>
                  <a:schemeClr val="bg2"/>
                </a:solidFill>
                <a:latin typeface="Arial" charset="0"/>
              </a:defRPr>
            </a:lvl4pPr>
            <a:lvl5pPr marL="2057400" indent="-228600" eaLnBrk="0" hangingPunct="0">
              <a:spcBef>
                <a:spcPts val="200"/>
              </a:spcBef>
              <a:defRPr sz="1000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ts val="200"/>
              </a:spcBef>
              <a:spcAft>
                <a:spcPct val="0"/>
              </a:spcAft>
              <a:defRPr sz="1000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0000"/>
                </a:solidFill>
                <a:latin typeface="Arial" panose="020B0604020202020204" pitchFamily="34" charset="0"/>
              </a:rPr>
              <a:t>Récupération traces QR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Connexion au serveur hmbacksdta01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Lancement du script </a:t>
            </a:r>
            <a:r>
              <a:rPr lang="fr-FR" b="1" dirty="0">
                <a:solidFill>
                  <a:srgbClr val="000000"/>
                </a:solidFill>
                <a:latin typeface="Arial" panose="020B0604020202020204" pitchFamily="34" charset="0"/>
              </a:rPr>
              <a:t>qr.py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./qr.py -f '/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applis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/logs/10834-ccre0-calculcredits/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doit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/10834_ccre0_ccre_calcul/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qr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/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s00va9963023.2021021914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' -a CALCULCREDIT -c LOA &gt; extract_qr.txt )</a:t>
            </a:r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0000"/>
                </a:solidFill>
                <a:latin typeface="Arial" panose="020B0604020202020204" pitchFamily="34" charset="0"/>
              </a:rPr>
              <a:t>Exécuter le job de reformatage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Uploader le fichier dans le Job  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  <a:hlinkClick r:id="rId2"/>
              </a:rPr>
              <a:t>Jenkins</a:t>
            </a:r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Télécharger dans le Dashboard le fichier : source-tests-cases.csv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0000"/>
                </a:solidFill>
                <a:latin typeface="Arial" panose="020B0604020202020204" pitchFamily="34" charset="0"/>
              </a:rPr>
              <a:t>Mettre le fichier dans </a:t>
            </a:r>
            <a:r>
              <a:rPr lang="fr-FR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loancalculation</a:t>
            </a:r>
            <a:r>
              <a:rPr lang="fr-FR" sz="1600" dirty="0">
                <a:solidFill>
                  <a:srgbClr val="000000"/>
                </a:solidFill>
                <a:latin typeface="Arial" panose="020B0604020202020204" pitchFamily="34" charset="0"/>
              </a:rPr>
              <a:t>-migration-tests\</a:t>
            </a:r>
            <a:r>
              <a:rPr lang="fr-FR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src</a:t>
            </a:r>
            <a:r>
              <a:rPr lang="fr-FR" sz="1600" dirty="0">
                <a:solidFill>
                  <a:srgbClr val="000000"/>
                </a:solidFill>
                <a:latin typeface="Arial" panose="020B0604020202020204" pitchFamily="34" charset="0"/>
              </a:rPr>
              <a:t>\test\data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0000"/>
                </a:solidFill>
                <a:latin typeface="Arial" panose="020B0604020202020204" pitchFamily="34" charset="0"/>
              </a:rPr>
              <a:t>Lancer le module </a:t>
            </a:r>
            <a:r>
              <a:rPr lang="fr-FR" sz="1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loancalculation</a:t>
            </a:r>
            <a:r>
              <a:rPr lang="fr-FR" sz="1600" b="1" dirty="0">
                <a:solidFill>
                  <a:srgbClr val="000000"/>
                </a:solidFill>
                <a:latin typeface="Arial" panose="020B0604020202020204" pitchFamily="34" charset="0"/>
              </a:rPr>
              <a:t>-migration-tests</a:t>
            </a:r>
            <a:r>
              <a:rPr lang="fr-FR" sz="1600" dirty="0">
                <a:solidFill>
                  <a:srgbClr val="000000"/>
                </a:solidFill>
                <a:latin typeface="Arial" panose="020B0604020202020204" pitchFamily="34" charset="0"/>
              </a:rPr>
              <a:t> avec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Spring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Dashboard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Dans </a:t>
            </a:r>
            <a:r>
              <a:rPr lang="fr-FR" b="1" dirty="0" err="1">
                <a:solidFill>
                  <a:srgbClr val="000000"/>
                </a:solidFill>
                <a:latin typeface="Arial" panose="020B0604020202020204" pitchFamily="34" charset="0"/>
              </a:rPr>
              <a:t>loancalculation</a:t>
            </a:r>
            <a:r>
              <a:rPr lang="fr-FR" b="1" dirty="0">
                <a:solidFill>
                  <a:srgbClr val="000000"/>
                </a:solidFill>
                <a:latin typeface="Arial" panose="020B0604020202020204" pitchFamily="34" charset="0"/>
              </a:rPr>
              <a:t>-migration-tests/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mvn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spring-boot:run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ou 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mvn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spring-boot:run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-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Dspring-boot.run.profiles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=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dev</a:t>
            </a:r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0000"/>
                </a:solidFill>
                <a:latin typeface="Arial" panose="020B0604020202020204" pitchFamily="34" charset="0"/>
              </a:rPr>
              <a:t>Analyser les résultats dans </a:t>
            </a:r>
            <a:r>
              <a:rPr lang="fr-FR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loancalculation</a:t>
            </a:r>
            <a:r>
              <a:rPr lang="fr-FR" sz="1600" dirty="0">
                <a:solidFill>
                  <a:srgbClr val="000000"/>
                </a:solidFill>
                <a:latin typeface="Arial" panose="020B0604020202020204" pitchFamily="34" charset="0"/>
              </a:rPr>
              <a:t>-migration-tests/</a:t>
            </a:r>
            <a:r>
              <a:rPr lang="fr-FR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target</a:t>
            </a:r>
            <a:endParaRPr lang="fr-F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Synthèse HTML (migration-tests-report.html)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Migration-tests-results.csv (All 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details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 marL="0" indent="0"/>
            <a:endParaRPr lang="fr-F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/>
            <a:endParaRPr lang="fr-FR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623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CAD31D-409F-4897-A289-F40359E6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28" y="2996953"/>
            <a:ext cx="5544616" cy="504056"/>
          </a:xfrm>
        </p:spPr>
        <p:txBody>
          <a:bodyPr/>
          <a:lstStyle/>
          <a:p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r>
              <a:rPr lang="fr-FR" altLang="fr-FR" sz="2500" dirty="0"/>
              <a:t>Démo + Analyse des Résultats</a:t>
            </a:r>
            <a:br>
              <a:rPr lang="fr-FR" altLang="fr-FR" dirty="0"/>
            </a:br>
            <a:br>
              <a:rPr lang="fr-FR" altLang="fr-FR" sz="1200" dirty="0"/>
            </a:br>
            <a:br>
              <a:rPr lang="fr-FR" altLang="fr-FR" sz="1200" dirty="0"/>
            </a:br>
            <a:br>
              <a:rPr lang="fr-FR" altLang="fr-FR" sz="1200" dirty="0"/>
            </a:br>
            <a:br>
              <a:rPr lang="fr-FR" altLang="fr-FR" dirty="0"/>
            </a:br>
            <a:br>
              <a:rPr lang="fr-FR" altLang="fr-FR" sz="1200" dirty="0"/>
            </a:br>
            <a:br>
              <a:rPr lang="fr-FR" altLang="fr-FR" sz="1200" dirty="0"/>
            </a:br>
            <a:br>
              <a:rPr lang="fr-FR" altLang="fr-FR" sz="1200" dirty="0"/>
            </a:br>
            <a:br>
              <a:rPr lang="fr-FR" altLang="fr-FR" sz="1200" dirty="0"/>
            </a:br>
            <a:br>
              <a:rPr lang="fr-FR" altLang="fr-FR" sz="1200" dirty="0"/>
            </a:br>
            <a:br>
              <a:rPr lang="fr-FR" altLang="fr-FR" sz="1200" dirty="0"/>
            </a:br>
            <a:br>
              <a:rPr lang="fr-FR" altLang="fr-FR" sz="1200" dirty="0"/>
            </a:br>
            <a:br>
              <a:rPr lang="fr-FR" altLang="fr-FR" dirty="0"/>
            </a:br>
            <a:r>
              <a:rPr lang="fr-FR" altLang="fr-FR" dirty="0"/>
              <a:t> </a:t>
            </a:r>
            <a:br>
              <a:rPr lang="fr-FR" altLang="fr-FR" sz="1200" dirty="0"/>
            </a:br>
            <a:br>
              <a:rPr lang="fr-FR" altLang="fr-FR" sz="1200" dirty="0"/>
            </a:br>
            <a:br>
              <a:rPr lang="fr-FR" altLang="fr-FR" sz="1200" dirty="0"/>
            </a:br>
            <a:br>
              <a:rPr lang="fr-FR" altLang="fr-FR" sz="1200" dirty="0"/>
            </a:br>
            <a:br>
              <a:rPr lang="fr-FR" altLang="fr-FR" sz="1200" dirty="0"/>
            </a:br>
            <a:br>
              <a:rPr lang="fr-FR" altLang="fr-FR" sz="1200" dirty="0"/>
            </a:br>
            <a:br>
              <a:rPr lang="fr-FR" altLang="fr-FR" sz="1200" dirty="0"/>
            </a:br>
            <a:br>
              <a:rPr lang="fr-FR" altLang="fr-FR" sz="1200" dirty="0"/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D2FFC-62C6-4087-AF6D-DA12CF07E2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449D29-FB61-4EC6-AA7C-646069F3C0D4}" type="slidenum">
              <a:rPr lang="fr-FR" altLang="fr-FR" smtClean="0"/>
              <a:pPr>
                <a:defRPr/>
              </a:pPr>
              <a:t>12</a:t>
            </a:fld>
            <a:endParaRPr lang="fr-FR" alt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4E0162-4588-4B48-B912-072B3FA0C6E2}"/>
              </a:ext>
            </a:extLst>
          </p:cNvPr>
          <p:cNvSpPr/>
          <p:nvPr/>
        </p:nvSpPr>
        <p:spPr>
          <a:xfrm>
            <a:off x="1547664" y="2996953"/>
            <a:ext cx="360040" cy="360040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4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66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B9651C-6E88-499E-8AB5-E2956A161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34182"/>
            <a:ext cx="8459788" cy="524620"/>
          </a:xfrm>
        </p:spPr>
        <p:txBody>
          <a:bodyPr/>
          <a:lstStyle/>
          <a:p>
            <a:r>
              <a:rPr lang="fr-FR" dirty="0"/>
              <a:t>     </a:t>
            </a: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br>
              <a:rPr lang="fr-FR" altLang="fr-FR" dirty="0"/>
            </a:br>
            <a:r>
              <a:rPr lang="fr-FR" altLang="fr-FR" sz="3200" dirty="0"/>
              <a:t>Démo + Analyse des Résultats</a:t>
            </a:r>
            <a:br>
              <a:rPr lang="fr-FR" altLang="fr-FR" dirty="0"/>
            </a:br>
            <a:br>
              <a:rPr lang="fr-FR" altLang="fr-FR" sz="1400" dirty="0"/>
            </a:br>
            <a:br>
              <a:rPr lang="fr-FR" altLang="fr-FR" sz="1400" dirty="0"/>
            </a:br>
            <a:br>
              <a:rPr lang="fr-FR" altLang="fr-FR" sz="1400" dirty="0"/>
            </a:br>
            <a:br>
              <a:rPr lang="fr-FR" altLang="fr-FR" dirty="0"/>
            </a:br>
            <a:br>
              <a:rPr lang="fr-FR" altLang="fr-FR" sz="1400" dirty="0"/>
            </a:br>
            <a:br>
              <a:rPr lang="fr-FR" altLang="fr-FR" sz="1400" dirty="0"/>
            </a:br>
            <a:br>
              <a:rPr lang="fr-FR" altLang="fr-FR" sz="1400" dirty="0"/>
            </a:br>
            <a:br>
              <a:rPr lang="fr-FR" altLang="fr-FR" sz="1400" dirty="0"/>
            </a:br>
            <a:br>
              <a:rPr lang="fr-FR" altLang="fr-FR" sz="1400" dirty="0"/>
            </a:br>
            <a:br>
              <a:rPr lang="fr-FR" altLang="fr-FR" sz="1400" dirty="0"/>
            </a:br>
            <a:br>
              <a:rPr lang="fr-FR" altLang="fr-FR" sz="1400" dirty="0"/>
            </a:br>
            <a:br>
              <a:rPr lang="fr-FR" altLang="fr-FR" dirty="0"/>
            </a:br>
            <a:r>
              <a:rPr lang="fr-FR" altLang="fr-FR" dirty="0"/>
              <a:t> </a:t>
            </a:r>
            <a:br>
              <a:rPr lang="fr-FR" altLang="fr-FR" sz="1400" dirty="0"/>
            </a:br>
            <a:br>
              <a:rPr lang="fr-FR" altLang="fr-FR" sz="1400" dirty="0"/>
            </a:br>
            <a:br>
              <a:rPr lang="fr-FR" altLang="fr-FR" sz="1400" dirty="0"/>
            </a:br>
            <a:br>
              <a:rPr lang="fr-FR" altLang="fr-FR" sz="140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222FF-D683-433B-A119-D2DB0EB721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449D29-FB61-4EC6-AA7C-646069F3C0D4}" type="slidenum">
              <a:rPr lang="fr-FR" altLang="fr-FR" smtClean="0"/>
              <a:pPr>
                <a:defRPr/>
              </a:pPr>
              <a:t>13</a:t>
            </a:fld>
            <a:endParaRPr lang="fr-FR" alt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4A9E4-1ECE-4207-A446-6D505D0FBD41}"/>
              </a:ext>
            </a:extLst>
          </p:cNvPr>
          <p:cNvSpPr/>
          <p:nvPr/>
        </p:nvSpPr>
        <p:spPr>
          <a:xfrm>
            <a:off x="330399" y="352476"/>
            <a:ext cx="314297" cy="288032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80" y="1556792"/>
            <a:ext cx="8793324" cy="390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32129"/>
      </p:ext>
    </p:extLst>
  </p:cSld>
  <p:clrMapOvr>
    <a:masterClrMapping/>
  </p:clrMapOvr>
</p:sld>
</file>

<file path=ppt/theme/theme1.xml><?xml version="1.0" encoding="utf-8"?>
<a:theme xmlns:a="http://schemas.openxmlformats.org/drawingml/2006/main" name="BNPP FR">
  <a:themeElements>
    <a:clrScheme name="BNPP">
      <a:dk1>
        <a:srgbClr val="000000"/>
      </a:dk1>
      <a:lt1>
        <a:srgbClr val="FFFFFF"/>
      </a:lt1>
      <a:dk2>
        <a:srgbClr val="939598"/>
      </a:dk2>
      <a:lt2>
        <a:srgbClr val="F0F0F0"/>
      </a:lt2>
      <a:accent1>
        <a:srgbClr val="00A76C"/>
      </a:accent1>
      <a:accent2>
        <a:srgbClr val="82A44A"/>
      </a:accent2>
      <a:accent3>
        <a:srgbClr val="BFBFBF"/>
      </a:accent3>
      <a:accent4>
        <a:srgbClr val="D2DCAA"/>
      </a:accent4>
      <a:accent5>
        <a:srgbClr val="A0C873"/>
      </a:accent5>
      <a:accent6>
        <a:srgbClr val="00A76C"/>
      </a:accent6>
      <a:hlink>
        <a:srgbClr val="A0C873"/>
      </a:hlink>
      <a:folHlink>
        <a:srgbClr val="3C9146"/>
      </a:folHlink>
    </a:clrScheme>
    <a:fontScheme name="BNPP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>
          <a:noFill/>
        </a:ln>
      </a:spPr>
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1400" dirty="0" smtClean="0">
            <a:solidFill>
              <a:schemeClr val="accent4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54538</TotalTime>
  <Words>454</Words>
  <Application>Microsoft Office PowerPoint</Application>
  <PresentationFormat>Affichage à l'écran (4:3)</PresentationFormat>
  <Paragraphs>123</Paragraphs>
  <Slides>13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Arial Narrow</vt:lpstr>
      <vt:lpstr>BNPP Sans</vt:lpstr>
      <vt:lpstr>Calibri</vt:lpstr>
      <vt:lpstr>Wingdings</vt:lpstr>
      <vt:lpstr>BNPP FR</vt:lpstr>
      <vt:lpstr>        Démo Batch Tests de Migration </vt:lpstr>
      <vt:lpstr>Agenda</vt:lpstr>
      <vt:lpstr>    Présentation du processus</vt:lpstr>
      <vt:lpstr>    Présentation du processus</vt:lpstr>
      <vt:lpstr>    Présentation du processus</vt:lpstr>
      <vt:lpstr>    Présentation du processus</vt:lpstr>
      <vt:lpstr>    Présentation du processus</vt:lpstr>
      <vt:lpstr>    Présentation du processus</vt:lpstr>
      <vt:lpstr>    Résultats des Tests</vt:lpstr>
      <vt:lpstr>     Résultats des Tests</vt:lpstr>
      <vt:lpstr>    Lancement en local</vt:lpstr>
      <vt:lpstr>          Démo + Analyse des Résultats                      </vt:lpstr>
      <vt:lpstr>               Démo + Analyse des Résultats                  </vt:lpstr>
    </vt:vector>
  </TitlesOfParts>
  <Manager>oumar.kouferidji@externe.bnpparibas.com</Manager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 Serveur tarif Tests Migration</dc:title>
  <dc:creator>oumar.kouferidji@externe.bnpparibas.com</dc:creator>
  <cp:lastModifiedBy>Oumar KOUFERIDJI</cp:lastModifiedBy>
  <cp:revision>2283</cp:revision>
  <cp:lastPrinted>2017-09-07T13:50:45Z</cp:lastPrinted>
  <dcterms:created xsi:type="dcterms:W3CDTF">2015-02-23T17:08:44Z</dcterms:created>
  <dcterms:modified xsi:type="dcterms:W3CDTF">2021-03-08T09:52:03Z</dcterms:modified>
  <cp:contentStatus>En cours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12e1ed0-4700-41e0-aec3-61ed249f3333_Enabled">
    <vt:lpwstr>true</vt:lpwstr>
  </property>
  <property fmtid="{D5CDD505-2E9C-101B-9397-08002B2CF9AE}" pid="3" name="MSIP_Label_812e1ed0-4700-41e0-aec3-61ed249f3333_SetDate">
    <vt:lpwstr>2021-03-08T09:52:03Z</vt:lpwstr>
  </property>
  <property fmtid="{D5CDD505-2E9C-101B-9397-08002B2CF9AE}" pid="4" name="MSIP_Label_812e1ed0-4700-41e0-aec3-61ed249f3333_Method">
    <vt:lpwstr>Standard</vt:lpwstr>
  </property>
  <property fmtid="{D5CDD505-2E9C-101B-9397-08002B2CF9AE}" pid="5" name="MSIP_Label_812e1ed0-4700-41e0-aec3-61ed249f3333_Name">
    <vt:lpwstr>Internal - Standard</vt:lpwstr>
  </property>
  <property fmtid="{D5CDD505-2E9C-101B-9397-08002B2CF9AE}" pid="6" name="MSIP_Label_812e1ed0-4700-41e0-aec3-61ed249f3333_SiteId">
    <vt:lpwstr>614f9c25-bffa-42c7-86d8-964101f55fa2</vt:lpwstr>
  </property>
  <property fmtid="{D5CDD505-2E9C-101B-9397-08002B2CF9AE}" pid="7" name="MSIP_Label_812e1ed0-4700-41e0-aec3-61ed249f3333_ActionId">
    <vt:lpwstr>e6d53040-2f10-417f-8515-f4c40398c034</vt:lpwstr>
  </property>
  <property fmtid="{D5CDD505-2E9C-101B-9397-08002B2CF9AE}" pid="8" name="MSIP_Label_812e1ed0-4700-41e0-aec3-61ed249f3333_ContentBits">
    <vt:lpwstr>2</vt:lpwstr>
  </property>
</Properties>
</file>